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a87a3ce8f34d57" /><Relationship Type="http://schemas.openxmlformats.org/officeDocument/2006/relationships/extended-properties" Target="/docProps/app.xml" Id="R73ce621d8b584c9a" /><Relationship Type="http://schemas.openxmlformats.org/officeDocument/2006/relationships/officeDocument" Target="/ppt/presentation.xml" Id="Rbe1b2a545c1d4a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9394a29094e28"/>
  </p:sldMasterIdLst>
  <p:notesMasterIdLst>
    <p:notesMasterId xmlns:r="http://schemas.openxmlformats.org/officeDocument/2006/relationships" r:id="Ra5522a35ea0e475a"/>
  </p:notesMasterIdLst>
  <p:sldIdLst>
    <p:sldId xmlns:r="http://schemas.openxmlformats.org/officeDocument/2006/relationships" id="256" r:id="R62e4dd7f85464c67"/>
    <p:sldId xmlns:r="http://schemas.openxmlformats.org/officeDocument/2006/relationships" id="257" r:id="R25970428473641d3"/>
    <p:sldId xmlns:r="http://schemas.openxmlformats.org/officeDocument/2006/relationships" id="258" r:id="Rc9a4e940bf1a4eec"/>
    <p:sldId xmlns:r="http://schemas.openxmlformats.org/officeDocument/2006/relationships" id="259" r:id="R13a4f04b4113434c"/>
    <p:sldId xmlns:r="http://schemas.openxmlformats.org/officeDocument/2006/relationships" id="260" r:id="R0b67894d8d164fb2"/>
    <p:sldId xmlns:r="http://schemas.openxmlformats.org/officeDocument/2006/relationships" id="261" r:id="R02ac06ed55dc4f4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9394a29094e28" /><Relationship Type="http://schemas.openxmlformats.org/officeDocument/2006/relationships/theme" Target="/ppt/theme/theme1.xml" Id="R90b766b11b0841d8" /><Relationship Type="http://schemas.openxmlformats.org/officeDocument/2006/relationships/notesMaster" Target="/ppt/notesMasters/notesMaster1.xml" Id="Ra5522a35ea0e475a" /><Relationship Type="http://schemas.openxmlformats.org/officeDocument/2006/relationships/presProps" Target="/ppt/presProps.xml" Id="Re1b0520a9f284bc7" /><Relationship Type="http://schemas.openxmlformats.org/officeDocument/2006/relationships/viewProps" Target="/ppt/viewProps.xml" Id="Re408606b8a334993" /><Relationship Type="http://schemas.openxmlformats.org/officeDocument/2006/relationships/tableStyles" Target="/ppt/tableStyles.xml" Id="Ra4499497d5f54925" /><Relationship Type="http://schemas.openxmlformats.org/officeDocument/2006/relationships/slide" Target="/ppt/slides/slide1.xml" Id="R62e4dd7f85464c67" /><Relationship Type="http://schemas.openxmlformats.org/officeDocument/2006/relationships/slide" Target="/ppt/slides/slide2.xml" Id="R25970428473641d3" /><Relationship Type="http://schemas.openxmlformats.org/officeDocument/2006/relationships/slide" Target="/ppt/slides/slide3.xml" Id="Rc9a4e940bf1a4eec" /><Relationship Type="http://schemas.openxmlformats.org/officeDocument/2006/relationships/slide" Target="/ppt/slides/slide4.xml" Id="R13a4f04b4113434c" /><Relationship Type="http://schemas.openxmlformats.org/officeDocument/2006/relationships/slide" Target="/ppt/slides/slide5.xml" Id="R0b67894d8d164fb2" /><Relationship Type="http://schemas.openxmlformats.org/officeDocument/2006/relationships/slide" Target="/ppt/slides/slide6.xml" Id="R02ac06ed55dc4f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ff964b49d4f4f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39df2d9fad4b32" /><Relationship Type="http://schemas.openxmlformats.org/officeDocument/2006/relationships/notesMaster" Target="/ppt/notesMasters/notesMaster1.xml" Id="R71941efe82904a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bec8cf3ba4787" /><Relationship Type="http://schemas.openxmlformats.org/officeDocument/2006/relationships/notesMaster" Target="/ppt/notesMasters/notesMaster1.xml" Id="R8d4425c3a4bb44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bc4b0b5031408f" /><Relationship Type="http://schemas.openxmlformats.org/officeDocument/2006/relationships/notesMaster" Target="/ppt/notesMasters/notesMaster1.xml" Id="R778bf05f348643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a3916d5d54e03" /><Relationship Type="http://schemas.openxmlformats.org/officeDocument/2006/relationships/notesMaster" Target="/ppt/notesMasters/notesMaster1.xml" Id="R0a4b66afd57843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5c3118a8d140e7" /><Relationship Type="http://schemas.openxmlformats.org/officeDocument/2006/relationships/notesMaster" Target="/ppt/notesMasters/notesMaster1.xml" Id="R5a368c39087b40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3bd75c35034433" /><Relationship Type="http://schemas.openxmlformats.org/officeDocument/2006/relationships/notesMaster" Target="/ppt/notesMasters/notesMaster1.xml" Id="R1f80eb00817d43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9ad38c73645cb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59d155da1347f1" /><Relationship Type="http://schemas.openxmlformats.org/officeDocument/2006/relationships/slideLayout" Target="/ppt/slideLayouts/slideLayout2.xml" Id="Rfaae8fe204f14bf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ae8fe204f14bf2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3d96aed3d8476c" /><Relationship Type="http://schemas.openxmlformats.org/officeDocument/2006/relationships/notesSlide" Target="/ppt/notesSlides/notesSlide1.xml" Id="Rcd122f70a8d9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e8a9522e364441" /><Relationship Type="http://schemas.openxmlformats.org/officeDocument/2006/relationships/notesSlide" Target="/ppt/notesSlides/notesSlide2.xml" Id="Re9f08ce5c99c46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6a20c7ab344d63" /><Relationship Type="http://schemas.openxmlformats.org/officeDocument/2006/relationships/notesSlide" Target="/ppt/notesSlides/notesSlide3.xml" Id="R985a4815d5e847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9192afdb0c4eb7" /><Relationship Type="http://schemas.openxmlformats.org/officeDocument/2006/relationships/notesSlide" Target="/ppt/notesSlides/notesSlide4.xml" Id="R0885e8030dc047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eca8f506149db" /><Relationship Type="http://schemas.openxmlformats.org/officeDocument/2006/relationships/notesSlide" Target="/ppt/notesSlides/notesSlide5.xml" Id="Re11b604517cc4c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e6829c3bac40c9" /><Relationship Type="http://schemas.openxmlformats.org/officeDocument/2006/relationships/notesSlide" Target="/ppt/notesSlides/notesSlide6.xml" Id="R901199a32ca248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2B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1C0CB7-F2CA-4F91-A885-349512D0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0964400-B6EA-4047-8D20-A1F8A7D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109728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6A"/>
          </a:solidFill>
          <a:ln xmlns:a="http://schemas.openxmlformats.org/drawingml/2006/main" w="12700">
            <a:solidFill>
              <a:srgbClr val="1E3A6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32887E-FB9B-4916-B972-66D83D94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-54864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C">
              <a:alpha val="30000"/>
            </a:srgbClr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E97192C-5AFF-485E-989D-16C9C373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"/>
            <a:ext cx="237744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0A8CC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C174BB4-01C5-48D6-B6ED-E25BF5A1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"/>
            <a:ext cx="23774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Model Architecture Updated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841849-996C-48CA-B21E-61C2477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97280"/>
            <a:ext cx="8229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KnowledgeDistillation</a:t>
            </a: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with Dual-Branch GCN for Molecular Toxicity Prediction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A805197-F311-4A62-9838-E91B2E4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9718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8C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0D0C18-3893-48EB-A0C3-58973984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15468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CBD5E0"/>
                </a:solidFill>
              </a:rPr>
              <a:t>Dual-Branch GCN  ·  Online EMA Knowledge Distillation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61169E5-3465-444C-A23A-B8FDE8F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657600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4A5568"/>
                </a:solidFill>
              </a:rPr>
              <a:t>이재환 (21016065)  |  Division of Data Science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7BC934-79A3-4B4E-A994-C076320C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20624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40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FAF5C90-29EB-4306-B5B4-37B49908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23367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0A8CC"/>
                </a:solidFill>
              </a:rPr>
              <a:t>Phase 0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6A4CEA1-7599-4DC8-9FDD-309F325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453128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Dual Feature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ECE143D-FFB9-448A-9B1B-C6432C91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20624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40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D345D14-D480-42C2-92F1-303BEC07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23367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2A"/>
                </a:solidFill>
              </a:rPr>
              <a:t>Phase 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4DD58FB-88AC-444B-963B-3DF4BD1B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453128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GCN + KD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F6ECB0A-7DD0-4308-B5D9-A63172D2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20624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40"/>
          </a:solidFill>
          <a:ln xmlns:a="http://schemas.openxmlformats.org/drawingml/2006/main" w="12700">
            <a:solidFill>
              <a:srgbClr val="7C4DC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1838791-F439-4B40-9DCB-C703CA5D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23367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C4DCC"/>
                </a:solidFill>
              </a:rPr>
              <a:t>Phase 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CF485E7-F2DE-431C-ACC2-7E62E027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453128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Transformer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</a:rPr>
              <a:t>+ Classifier</a:t>
            </a:r>
          </a:p>
        </p:txBody>
      </p:sp>
    </p:spTree>
    <p:extLst>
      <p:ext uri="{BB962C8B-B14F-4D97-AF65-F5344CB8AC3E}">
        <p14:creationId xmlns:p14="http://schemas.microsoft.com/office/powerpoint/2010/main" val="188002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D810D8D5-8C89-A5CC-8954-8D3CA21A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8032" y="1667318"/>
            <a:ext cx="1" cy="1215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B52"/>
            </a:solidFill>
            <a:prstDash val="solid"/>
          </a:ln>
        </p:spPr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C6E1CD-C79C-45F7-9E43-C8B39A3E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FF9343-4156-4A29-9FA4-79328C51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0"/>
            <a:ext cx="8503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전체 모델 아키텍처 Overview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CAA6DE5-1007-4FFB-B1AD-350CBCB3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407BD7-F1A1-4FE6-94EF-0A151252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58368"/>
            <a:ext cx="14630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BFD8B8-263B-4923-A0E5-FFA58520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58368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Phase 0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Dual Featurizer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4E9ECC-07A2-4628-9A95-C5A90361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658368"/>
            <a:ext cx="3566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DD89BF6-1B1C-4685-8245-998D98A8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658368"/>
            <a:ext cx="3566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Phase 1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Dual GCN + KD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5192B24-0680-4FF8-AE46-359A87A5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658368"/>
            <a:ext cx="3246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DCC"/>
          </a:solidFill>
          <a:ln xmlns:a="http://schemas.openxmlformats.org/drawingml/2006/main" w="12700">
            <a:solidFill>
              <a:srgbClr val="7C4DC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54C62E3-D3A7-403B-8803-CE5756EB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658368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Phase 2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Transformer + Fusion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500072-B652-49D6-AE70-E5B5E91F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1207008"/>
            <a:ext cx="14630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3C99766-5E0A-4AD3-93AE-9D4293A6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1207008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SMILES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→ RDKit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10039F-AE95-48A8-B349-B25ECB8D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1871" y="1664207"/>
            <a:ext cx="1" cy="365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B52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B4B24CC-D733-41B9-840F-569C5C81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005609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AE61A7F-83B9-410C-9052-D0F39E1E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005609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x_chem (19d)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17B0B53-0828-4729-94B1-BFACBEEF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87811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DCC"/>
          </a:solidFill>
          <a:ln xmlns:a="http://schemas.openxmlformats.org/drawingml/2006/main" w="12700">
            <a:solidFill>
              <a:srgbClr val="7C4DCC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370FCBE-255D-4C4F-81E0-FEA8E13F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87811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x_phys (5d)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0715B94-F2C2-46AA-B6BB-93113B05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11880"/>
            <a:ext cx="14630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06A4C47-807A-4F68-8275-7580EC8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11880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4A5568"/>
                </a:solidFill>
              </a:rPr>
              <a:t>edge_attr (7d)</a:t>
            </a:r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4A5568"/>
                </a:solidFill>
              </a:rPr>
              <a:t>[shared]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D924DD4-4371-4ADE-8365-4C1B51F0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22" y="1931477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C42BF4C-D98D-4B43-8CFC-DFEF0905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22" y="1931477"/>
            <a:ext cx="1554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GCN_c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(Student)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D7284EA-0660-4269-8A1C-D8C60AD2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25" y="1238333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B75939-EEDA-4B20-A81C-AACF1ADC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25" y="1238333"/>
            <a:ext cx="1554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8822A"/>
                </a:solidFill>
              </a:rPr>
              <a:t>GCN_c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8822A"/>
                </a:solidFill>
              </a:rPr>
              <a:t>(Teacher/Student’s EMA)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0E09B2D-6F24-408D-9081-4A3FDB73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23" y="1768685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E8822A"/>
                </a:solidFill>
              </a:rPr>
              <a:t>EMA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11A7BB8-F8B0-42F7-9C5F-ACBC7277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779776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DCC"/>
          </a:solidFill>
          <a:ln xmlns:a="http://schemas.openxmlformats.org/drawingml/2006/main" w="12700">
            <a:solidFill>
              <a:srgbClr val="7C4D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B6B0AE6-A859-4FB6-A1A1-EF5E0135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779776"/>
            <a:ext cx="1554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GCN_p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(Student)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90679CE-9258-4840-B570-8C2E02B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529584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7C4DCC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84C5B36-5818-4BC3-A59D-67349BC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529584"/>
            <a:ext cx="1554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7C4DCC"/>
                </a:solidFill>
              </a:rPr>
              <a:t>GCN_p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7C4DCC"/>
                </a:solidFill>
              </a:rPr>
              <a:t>(Teacher/Student’s EMA)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9CD751E-12E7-47D6-A072-A12D013E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33756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7C4DCC"/>
                </a:solidFill>
              </a:rPr>
              <a:t>EMA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F2C15C6-0F3C-4FA3-9C99-E5310A10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522" y="2343070"/>
            <a:ext cx="16916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00A8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76F2CDC-9544-481A-8C66-55265E1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522" y="2343070"/>
            <a:ext cx="1691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L_KD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Masked MSE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4DCAF81-A0A6-4528-9035-B5E2167E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984" y="2189989"/>
            <a:ext cx="274290" cy="4604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8822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DDA4ED8-9ECF-43FE-9360-1BBF3464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28970" y="2665312"/>
            <a:ext cx="274288" cy="3979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C4DCC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D235761-4DC5-4F48-BAF8-D8F6E5E1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02" y="1528247"/>
            <a:ext cx="2240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22A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37D18CB-9A52-428D-AD4A-890659D7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998" y="3811248"/>
            <a:ext cx="2240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4DCC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F6517F8-F743-4721-911E-40B04CE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482" y="1234440"/>
            <a:ext cx="14630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822A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C28CCCE-BD09-4FCA-B2CD-595AFC45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482" y="123444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A2B52"/>
                </a:solidFill>
              </a:rPr>
              <a:t>Transformer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A2B52"/>
                </a:solidFill>
              </a:rPr>
              <a:t>Encoder_c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496B7205-25A5-414D-A320-EA37D06B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476219"/>
            <a:ext cx="14630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4D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0358F9C-DCB5-4B21-AD44-ACEAF9A4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476219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A2B52"/>
                </a:solidFill>
              </a:rPr>
              <a:t>Transformer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A2B52"/>
                </a:solidFill>
              </a:rPr>
              <a:t>Encoder_p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74F7F31-F9F5-4AD2-8190-75BAB35F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522" y="1545335"/>
            <a:ext cx="279088" cy="815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22A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648855F-0B09-4AA4-890D-81E30AEA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40444" y="2381862"/>
            <a:ext cx="279088" cy="14293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4DCC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58FAC010-8CB6-4DE9-BDB8-C35F2981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737360"/>
            <a:ext cx="15087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00A8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3E5DA8B5-8CF7-4D7C-806A-47DECE21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783080"/>
            <a:ext cx="150876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Concat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[c;p] (512d)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Masked Pool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Classifier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1B9C227-F745-4E6E-BEE2-5F87980A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154680"/>
            <a:ext cx="15087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7A"/>
          </a:solidFill>
          <a:ln xmlns:a="http://schemas.openxmlformats.org/drawingml/2006/main" w="12700">
            <a:solidFill>
              <a:srgbClr val="2EAD7A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FE5856B-E664-456F-B014-DCEE550A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1546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12-task logits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→ BCELoss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23F310C-4D15-4CB7-94D5-08D20C8E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2189989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22A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F36491AD-06DB-4753-A08E-FDBFFDCA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057244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4DCC"/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B58AB16E-17D0-43FB-806B-B4CE47F3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4297680"/>
            <a:ext cx="8814816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8602860-8A30-489F-870D-4D91D4A2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62272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84477B4E-0687-4DE6-BE04-7FABFC0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462272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</a:rPr>
              <a:t>Chemical Branch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782F916-81D4-4175-B607-0C126866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4462272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DCC"/>
          </a:solidFill>
          <a:ln xmlns:a="http://schemas.openxmlformats.org/drawingml/2006/main" w="12700">
            <a:solidFill>
              <a:srgbClr val="7C4DCC"/>
            </a:solidFill>
            <a:prstDash val="solid"/>
          </a:ln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40099A4-6FC9-4868-A729-9D96C60B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462272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</a:rPr>
              <a:t>Physical Branch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2787C399-3E1C-42FE-9239-9352EFE9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4462272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A24BD4BF-719F-489B-8076-A74DA011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62272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</a:rPr>
              <a:t>Knowledge Distillation (EMA)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02CBC8A7-D69E-4D88-85CC-01A91539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4462272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7A"/>
          </a:solidFill>
          <a:ln xmlns:a="http://schemas.openxmlformats.org/drawingml/2006/main" w="12700">
            <a:solidFill>
              <a:srgbClr val="2EAD7A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FFC0082E-876F-4D21-B626-AC64697D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4462272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</a:rPr>
              <a:t>Output / Loss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C0D355B9-704B-4D24-ACCD-0F8F222C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462272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EC688F3B-502F-4DDB-B510-E951964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4462272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</a:rPr>
              <a:t>Fusion / Pooling</a:t>
            </a:r>
          </a:p>
        </p:txBody>
      </p:sp>
      <p:sp>
        <p:nvSpPr>
          <p:cNvPr id="63" name="Shape 33">
            <a:extLst xmlns:a="http://schemas.openxmlformats.org/drawingml/2006/main">
              <a:ext uri="{FF2B5EF4-FFF2-40B4-BE49-F238E27FC236}">
                <a16:creationId xmlns:a16="http://schemas.microsoft.com/office/drawing/2014/main" id="{79C3BD9B-3698-3FCA-5974-47EA0445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28999" y="2667895"/>
            <a:ext cx="274288" cy="11433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C4DCC"/>
            </a:solidFill>
            <a:prstDash val="solid"/>
          </a:ln>
        </p:spPr>
      </p:sp>
      <p:sp>
        <p:nvSpPr>
          <p:cNvPr id="65" name="Shape 32">
            <a:extLst xmlns:a="http://schemas.openxmlformats.org/drawingml/2006/main">
              <a:ext uri="{FF2B5EF4-FFF2-40B4-BE49-F238E27FC236}">
                <a16:creationId xmlns:a16="http://schemas.microsoft.com/office/drawing/2014/main" id="{7DD5E146-0B5D-48CE-A1B9-07E583F0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998" y="1525664"/>
            <a:ext cx="279089" cy="1139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8822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1300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0965EC-741A-40CB-BC49-360032B7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A23648-C3B9-4DF3-B99A-4E2B466B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0"/>
            <a:ext cx="8503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Phase 1 상세 ①  — GNNEncoder 구조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97F9F6-9107-483E-A743-530B1E04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4BE44E8-2F13-473D-853D-5B1770A2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04088"/>
            <a:ext cx="41605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2700">
            <a:solidFill>
              <a:srgbClr val="CBD5E0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1EE841-C53A-4074-BA05-D4FA74A7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740664"/>
            <a:ext cx="39502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2B52"/>
                </a:solidFill>
              </a:rPr>
              <a:t>입력 노드 특징  x ∈ ℝ^(N×d_in)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55A6072-CEDE-423C-90BD-48F67270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52728"/>
            <a:ext cx="41605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8822A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35F26A-CD81-41A7-9537-2CD0F1F4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1289304"/>
            <a:ext cx="39502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2B52"/>
                </a:solidFill>
              </a:rPr>
              <a:t>Edge Embedding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2B52"/>
                </a:solidFill>
              </a:rPr>
              <a:t>e_emb = Linear(edge_attr)  →  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DCE26C1-AB36-41D1-B4BB-A1C5C7CB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1368"/>
            <a:ext cx="41605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8822A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0CC0959-25A1-4DBE-A336-75EE44FF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1837944"/>
            <a:ext cx="395020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2B52"/>
                </a:solidFill>
              </a:rPr>
              <a:t>Edge Weight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86ACAFC-6CE9-46A4-B0E0-63F18364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86584"/>
            <a:ext cx="41605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12700">
            <a:solidFill>
              <a:srgbClr val="00A8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28DEAAF-749A-4B02-BBCD-402E4570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23160"/>
            <a:ext cx="395020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2B52"/>
                </a:solidFill>
              </a:rPr>
              <a:t>GCNConv × L  (잔차 </a:t>
            </a:r>
            <a:r>
              <a:rPr sz="1100">
                <a:solidFill>
                  <a:srgbClr val="1A2B52"/>
                </a:solidFill>
              </a:rPr>
              <a:t>연결</a:t>
            </a:r>
            <a:r>
              <a:rPr sz="1100">
                <a:solidFill>
                  <a:srgbClr val="1A2B52"/>
                </a:solidFill>
              </a:rPr>
              <a:t>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9C694DB-037A-43EB-9AAF-EF5AD398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209544"/>
            <a:ext cx="41605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2700">
            <a:solidFill>
              <a:srgbClr val="CBD5E0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EC0E396-1514-453D-9D09-D3E1837C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3246120"/>
            <a:ext cx="39502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1A2B52"/>
                </a:solidFill>
              </a:rPr>
              <a:t>출력  </a:t>
            </a:r>
            <a:r>
              <a:rPr sz="1100">
                <a:solidFill>
                  <a:srgbClr val="1A2B52"/>
                </a:solidFill>
              </a:rPr>
              <a:t> ∈ </a:t>
            </a:r>
            <a:r>
              <a:rPr sz="1100">
                <a:solidFill>
                  <a:srgbClr val="1A2B52"/>
                </a:solidFill>
              </a:rPr>
              <a:t>   [H = 256, L = 3]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74E17DF-4F5A-416B-A34C-CDA6F88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143000"/>
            <a:ext cx="868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E8822A"/>
                </a:solidFill>
              </a:rPr>
              <a:t>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63949A-E68D-4329-9E29-D9FF8E41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691640"/>
            <a:ext cx="868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E8822A"/>
                </a:solidFill>
              </a:rPr>
              <a:t>▼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EEC071-81F2-4C08-9A3C-3B3707C9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276856"/>
            <a:ext cx="868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E8822A"/>
                </a:solidFill>
              </a:rPr>
              <a:t>▼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020C15-0766-414D-A4F7-DFFA346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99816"/>
            <a:ext cx="868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E8822A"/>
                </a:solidFill>
              </a:rPr>
              <a:t>▼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9660699-D720-4277-AA48-5B7FE969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04088"/>
            <a:ext cx="42519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0D1BC30-DF30-4324-9BBD-3EC949FE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04088"/>
            <a:ext cx="4251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수식 기호 설명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1D826EA-F997-4BD8-BC32-921EC9A4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43000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87730EF-1FF5-4B8A-BB10-85B0E513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143000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x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9D882B-5C5E-4587-8AB8-6B076498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14300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입력 노드 특징 행렬  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9776619-F02E-417A-9E27-E6D3967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72184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114FB94-20E5-44A4-ACE9-7C37B173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472184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edge_attr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05BFD10-1F31-4C53-93D5-71468D88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472184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엣지 특징 (7-dim: 결합 유형·공액·링·길이)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9A84C02-9F56-4EA9-AD61-81D21346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01368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F81D38-7149-4E70-9BDE-36E448FB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801368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e_emb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965DABA-4A6D-45B8-9C40-E4919014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801368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엣지 임베딩  ∈ </a:t>
            </a:r>
            <a:r>
              <a:rPr sz="1000">
                <a:solidFill>
                  <a:srgbClr val="4A5568"/>
                </a:solidFill>
              </a:rPr>
              <a:t>  (Linear + 공유)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CF232CB-39E9-4FF5-A1C8-89B87406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130552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AD26EFB-ECE7-4521-800D-FE41BF1F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130552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w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A52D43F-3E01-41D7-8FA9-264FAC2A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130552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엣지 가중치  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ED72C78-54B5-4600-92B4-E7EF1DA7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59736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DD311A6-C88C-43A1-848D-746F5455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459736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GCNConv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E14BAD2-90F0-433F-BC3F-C1761E3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459736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가중치 그래프 컨볼루션  (A̅ + w 반영)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D9F2D96-2209-45B9-8047-A0ECBF3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88920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6889D00-02DB-4426-B2B2-20F75D17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788920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BN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CCCDE0A-1D95-40BD-ACDF-02506482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78892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Batch Normalization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F1EB32D6-3267-40F8-8EE5-36F6D3F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118104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884B75A-2C11-4D34-B352-8F7ECDC2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118104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W_res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1B62F11-1305-4799-9079-79E6F80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18104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잔차 투영 행렬  (in≠H 이면 Linear, 아니면 Identity)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48C7493C-5E39-4DD2-8BE0-A60FDBB8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447288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C7B5B743-0542-492F-90D6-FA8D27E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447288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H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61E51BB-1A8B-43C5-B066-E222660B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447288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hidden dim = 256  /  L = num_layers = 3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1309DD3B-B789-47DE-B7E3-24DB732E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76472"/>
            <a:ext cx="4251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FACA9204-0047-4310-AB4B-9985620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776472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8822A"/>
                </a:solidFill>
                <a:latin typeface="Consolas"/>
                <a:ea typeface="Consolas"/>
                <a:cs typeface="Consolas"/>
              </a:rPr>
              <a:t>dropout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EED7C53-A997-456D-A8BE-D58E362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776472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p = 0.4  (마지막 GCN 층 제외)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41415165-AF21-44B7-847F-9B81FE5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749040"/>
            <a:ext cx="8686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B0E0D5C4-6334-4D29-8193-66F99B3D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749040"/>
            <a:ext cx="91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C887513-41F1-4B31-B14D-3A1AF569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GCN_c 와 GCN_p 는 동일한 GNNEncoder 구조를 공유하지만, 입력 특징 차원만 다릅니다: Chem(d_in=19) / Phys(d_in=5). edge_index, edge_attr(7d)는 두 branch 공유.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EA6D01F-D27B-442A-9E75-02AEFC33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25112"/>
            <a:ext cx="86868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9A7A3AD-6FE9-47D2-A5EA-19A5C33B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25112"/>
            <a:ext cx="91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A0717EC-535D-4CDE-AFEA-9637F216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70832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핵심: 엣지 가중치 w로 결합 강도를 GCN 메시지 전달에 반영 → 단순 인접 행렬이 아닌 화학 결합 특성을 구조적으로 인코딩.</a:t>
            </a:r>
          </a:p>
        </p:txBody>
      </p:sp>
    </p:spTree>
    <p:extLst>
      <p:ext uri="{BB962C8B-B14F-4D97-AF65-F5344CB8AC3E}">
        <p14:creationId xmlns:p14="http://schemas.microsoft.com/office/powerpoint/2010/main" val="1339157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C3E630-D551-46FF-B156-E68B863F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5AEF19-9C95-40F3-A491-EBA0E649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0"/>
            <a:ext cx="8503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Phase 1 상세 ②  — Online EMA Knowledge Distillation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C0F8D1-24C9-4F39-BE1B-BFACA063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6C10344-6978-4846-999E-CF680B77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13232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30AEC0-3FDF-4D98-9A8A-0FBC8C2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13232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Student GCN_c / GCN_p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(업데이트 대상)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B31E603-8571-4184-B272-36FEF615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2588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EDD69B-1D43-4B34-89A3-27C4AC9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2588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8822A"/>
                </a:solidFill>
              </a:rPr>
              <a:t>Teacher GCN_c / GCN_p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8822A"/>
                </a:solidFill>
              </a:rPr>
              <a:t>(frozen, EMA weights)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BDBFD93-08D7-4709-B20F-AA6FC69A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52144"/>
            <a:ext cx="2011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E8822A"/>
                </a:solidFill>
              </a:rPr>
              <a:t>↓  forward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0C976A9-89E8-4610-9D3C-2E2AA72C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941832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22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2ACC5AA-E10D-4340-9627-C495365A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554480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22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74CE34-ECD6-4852-85BE-6109E712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713232"/>
            <a:ext cx="1965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2700">
            <a:solidFill>
              <a:srgbClr val="CBD5E0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F23F88-A6F9-4BE8-A8BE-ADF612C0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713232"/>
            <a:ext cx="1965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A2B52"/>
                </a:solidFill>
              </a:rPr>
              <a:t>Node Seq. Padding</a:t>
            </a:r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A2B52"/>
                </a:solidFill>
              </a:rPr>
              <a:t>+  pad_mask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10AC288-28D0-4BFB-ABDD-5B06F03F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325880"/>
            <a:ext cx="1965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496F66D-1530-437C-B816-29E30895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325880"/>
            <a:ext cx="1965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A2B52"/>
                </a:solidFill>
              </a:rPr>
              <a:t>Node Seq. Padding</a:t>
            </a:r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A2B52"/>
                </a:solidFill>
              </a:rPr>
              <a:t>+  pad_mask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1F97EE0-54CC-44A4-822B-C0D4FB8E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418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8C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3831CBB-C683-4F07-9C00-FF630373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5448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8CC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AC8088C-6D9C-4097-BF68-9B16A4EC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804672"/>
            <a:ext cx="18288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00A8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C71A46F-EDB4-4209-8B29-538746F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85039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Masked MSE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L_KD = ½(L_c + L_p)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989D1C-384A-4873-BEC4-4BFB70F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02412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6404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352DF34-305D-43FF-B2E4-8D31016A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678" y="1106424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D64045"/>
                </a:solidFill>
              </a:rPr>
              <a:t>← Backprop (Student only)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360BE8-9A28-4B63-B3C5-FF2E42C8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92224"/>
            <a:ext cx="2011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E8822A"/>
                </a:solidFill>
              </a:rPr>
              <a:t>EMA Update →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A8EC801-90B9-4EC6-97E8-C539A110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84832"/>
            <a:ext cx="8686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D7EC1E4-108A-4B01-B2C3-F86533FB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84832"/>
            <a:ext cx="914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22A"/>
          </a:solidFill>
          <a:ln xmlns:a="http://schemas.openxmlformats.org/drawingml/2006/main" w="12700">
            <a:solidFill>
              <a:srgbClr val="E8822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695AE43-4973-4542-817C-A12657F9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03120"/>
            <a:ext cx="8412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A2B52"/>
                </a:solidFill>
                <a:latin typeface="Consolas"/>
                <a:ea typeface="Consolas"/>
                <a:cs typeface="Consolas"/>
              </a:rPr>
              <a:t>[EMA Update]   </a:t>
            </a:r>
            <a:r>
              <a:rPr sz="1200" b="1">
                <a:solidFill>
                  <a:srgbClr val="1A2B52"/>
                </a:solidFill>
                <a:latin typeface="Consolas"/>
                <a:ea typeface="Consolas"/>
                <a:cs typeface="Consolas"/>
              </a:rPr>
              <a:t>        (α = 0.99, 매 iteration 갱신)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695A259-C4E6-4C4E-9C61-5B370C45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51760"/>
            <a:ext cx="86868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93EA6DD-61F9-4435-94C0-21123E04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51760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C681DC-A9F5-43C8-A511-818FB7D6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8412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A2B52"/>
                </a:solidFill>
                <a:latin typeface="Consolas"/>
                <a:ea typeface="Consolas"/>
                <a:cs typeface="Consolas"/>
              </a:rPr>
              <a:t>[Masked MSE]   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68B33A0-9CD7-49FD-9772-1FB87890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17520"/>
            <a:ext cx="84124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S, T ∈ ℝ^(B×N_max×H):  student/teacher node sequence  |  mask_{ij}=1 if padding  |  H=256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8A6C19D-F95C-4144-AF57-78197B9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401568"/>
            <a:ext cx="8686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5"/>
          </a:solidFill>
          <a:ln xmlns:a="http://schemas.openxmlformats.org/drawingml/2006/main" w="12700">
            <a:solidFill>
              <a:srgbClr val="2EAD7A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B6A86A1-206C-4C08-8980-1208C33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401568"/>
            <a:ext cx="914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7A"/>
          </a:solidFill>
          <a:ln xmlns:a="http://schemas.openxmlformats.org/drawingml/2006/main" w="12700">
            <a:solidFill>
              <a:srgbClr val="2EAD7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825972C-E283-49EA-985B-A3FA30F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19856"/>
            <a:ext cx="8412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A2B52"/>
                </a:solidFill>
                <a:latin typeface="Consolas"/>
                <a:ea typeface="Consolas"/>
                <a:cs typeface="Consolas"/>
              </a:rPr>
              <a:t>[Total KD Loss]   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77422CA-AF78-49B2-8C07-E6F8DB1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968496"/>
            <a:ext cx="868680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766FE17-E3E6-49F7-8286-7B20B991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977640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</a:rPr>
              <a:t>▸  Phase 1에서는 분류 헤드(Transformer, Classifier) 없이 GCN 표현 학습에만 집중합니다.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4D4F547-AD35-4A79-8453-38D57C2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15968"/>
            <a:ext cx="868680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5593C07-38D6-47E6-B455-7091C74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325112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</a:rPr>
              <a:t>▸  Teacher 파라미터는 역전파로 직접 업데이트되지 않고, EMA를 통해서만 간접 업데이트됩니다.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716FCE12-C7F1-4903-9499-3CB47FCA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63440"/>
            <a:ext cx="868680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84C0274-B811-4FF4-AED0-44C4C0D3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672584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</a:rPr>
              <a:t>▸  Student 성능이 향상될수록 Teacher 품질도 자동 향상 → 점진적·재귀적 성능 향상 (Bootstrap 효과).</a:t>
            </a:r>
          </a:p>
        </p:txBody>
      </p:sp>
    </p:spTree>
    <p:extLst>
      <p:ext uri="{BB962C8B-B14F-4D97-AF65-F5344CB8AC3E}">
        <p14:creationId xmlns:p14="http://schemas.microsoft.com/office/powerpoint/2010/main" val="331349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2D5BCD-B779-4DB0-99D8-D0DEBC2A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A7F32D-EE1F-4209-8B79-209D0CB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0"/>
            <a:ext cx="8503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Phase 2 상세 ①  — BranchTransformerEncoder 구조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F613420-0195-4E47-B36B-0CA116D6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DCC"/>
          </a:solidFill>
          <a:ln xmlns:a="http://schemas.openxmlformats.org/drawingml/2006/main" w="12700">
            <a:solidFill>
              <a:srgbClr val="7C4DC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F53A961-8901-488C-B918-0ADDE6B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13232"/>
            <a:ext cx="4480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2700">
            <a:solidFill>
              <a:srgbClr val="CBD5E0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8CEF69-DE52-4CB6-8D3D-A9C10055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749808"/>
            <a:ext cx="42702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입력  </a:t>
            </a:r>
            <a:r>
              <a:rPr sz="1050">
                <a:solidFill>
                  <a:srgbClr val="1A2B52"/>
                </a:solidFill>
              </a:rPr>
              <a:t>(Teacher GCN 출력, no_grad)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LayerNorm + Dropout (p=0.3)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ABB62DC-00E7-4B5E-BE8E-042C935A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98448"/>
            <a:ext cx="448056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7C4D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A7096EF-AA7E-4BD1-AF8A-9D585B57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1335024"/>
            <a:ext cx="42702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Multi-Head Self-Attention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  (batch_first)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AFEDF5D-97C7-4574-BBD2-BB32EE8B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48256"/>
            <a:ext cx="448056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7C4D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85E4668-5FB7-423F-B426-34D6BA65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084832"/>
            <a:ext cx="4270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Residual + LayerNorm₁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DB66F03-EA29-41E7-89BA-72B42DED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15184"/>
            <a:ext cx="4480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7C4D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43EC93-B737-4128-AADE-957C973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651760"/>
            <a:ext cx="42702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Feed-Forward Network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[d_ff = 512,  dropout = 0.3]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232699E-3B6B-4FD3-B526-897013DE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273552"/>
            <a:ext cx="4480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7C4D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B6072A-C484-478C-B45D-D0F150C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3310128"/>
            <a:ext cx="427024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Residual + LayerNorm₂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2E6CF6-B99E-4CFA-85A8-9B887940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3048"/>
            <a:ext cx="4480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2700">
            <a:solidFill>
              <a:srgbClr val="CBD5E0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4EDABE6-6132-4CBE-A013-CDA2DBEF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3849624"/>
            <a:ext cx="427024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출력  </a:t>
            </a:r>
            <a:r>
              <a:rPr sz="1050">
                <a:solidFill>
                  <a:srgbClr val="1A2B52"/>
                </a:solidFill>
              </a:rPr>
              <a:t>  반복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1504D61-C22C-41B0-B664-89FEF8D9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170432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7C4DCC"/>
                </a:solidFill>
              </a:rPr>
              <a:t>▼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6D36A51-FE28-4F37-AF74-E70CFBE4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92024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7C4DCC"/>
                </a:solidFill>
              </a:rPr>
              <a:t>▼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CB6F128-4841-4E3E-A323-4EED0188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487168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7C4DCC"/>
                </a:solidFill>
              </a:rPr>
              <a:t>▼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4F87A2-A052-4DAD-904B-B5D8F7E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145536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7C4DCC"/>
                </a:solidFill>
              </a:rPr>
              <a:t>▼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84D8A1-9D78-4B0A-89AD-916E8388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85032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7C4DCC"/>
                </a:solidFill>
              </a:rPr>
              <a:t>▼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25855EC-3DD1-4EC6-8279-F56C36E4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713232"/>
            <a:ext cx="39319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DCC"/>
          </a:solidFill>
          <a:ln xmlns:a="http://schemas.openxmlformats.org/drawingml/2006/main" w="12700">
            <a:solidFill>
              <a:srgbClr val="7C4DCC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0113495-31A8-48C5-9E66-9541CC65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713232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Transformer 하이퍼파라미터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9BF90F2-A232-468E-8233-6FF74FB6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170432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F151E9-F63B-4075-AE26-A8639B53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170432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d_model (H)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B209CDB-4988-4765-8DA4-A7C20CB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170432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256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1FD31A7-6539-4CAB-947A-F92E2EA0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481328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8E00DBA-9C81-4238-93B5-EC9F3BB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481328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nhead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FD1FCA8-DCBA-401F-B5F5-B6A77F75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81328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4  (head_dim = 64)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6F77225-0047-4A31-A203-20AE8F8A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792224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C40AD29-E5BB-48F8-A8DC-32513945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792224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dim_ff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592E13C-9631-488D-A1C1-FE7F0FD7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792224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512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D44C87E-B928-4A3C-896C-EF49D98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103120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98BA5A6-3C6A-41BF-A466-8381EAD2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103120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num_layers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F3818F2-A1DC-484D-9E4E-B038BA07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03120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2  (TransformerEncoderBlock)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3923C99-273B-478B-8E01-04E40F63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414016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5C959F5-1FA5-498A-9E0A-562B9D98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414016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dropout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7A4D495-224D-447D-8582-35FBEC0D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414016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0.3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EAEC00C-37B5-461C-8686-1C7C3698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24912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F420374F-0D6B-4ACD-BC0D-5BBF1152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724912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attention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D4E4004-6FCE-4D72-9C25-0882686F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724912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Scaled Dot-Product MHA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17D88A6-9D93-4BD4-AC2D-DEC56205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035808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EFB6CC1-1918-48CA-B5F2-8BD63D69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035808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normalization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CB1335F-E68F-48DA-9D6A-7015A4A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35808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Pre-norm (LayerNorm before sublayer)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E308F4F8-F588-41B3-9D9E-3AF7DD39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346704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AC95A31-37CA-4564-9B1F-3F734AE2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346704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activation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65C52E38-6BF6-4B02-8D81-3FBF177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346704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GELU (FFN 내부)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54B127B4-D51F-48AF-B77F-EE51986C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57600"/>
            <a:ext cx="393192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3BB45820-3C04-420B-8BA0-F0478C5A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657600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7C4DCC"/>
                </a:solidFill>
              </a:rPr>
              <a:t>padding 처리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BFE3EEF3-E784-4C43-BDB0-7127782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657600"/>
            <a:ext cx="1938528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</a:rPr>
              <a:t>key_padding_mask로 패딩 토큰 마스킹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0AB2580C-80C0-4C88-A0F2-883B0CE7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005072"/>
            <a:ext cx="39319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7C4DCC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BF7DCB26-658E-4F70-9B40-57D88A91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02336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출력: out_norm = LayerNorm(h) 적용 후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</a:rPr>
              <a:t>pad_mask 위치는 0으로 마스킹 처리</a:t>
            </a:r>
          </a:p>
        </p:txBody>
      </p:sp>
    </p:spTree>
    <p:extLst>
      <p:ext uri="{BB962C8B-B14F-4D97-AF65-F5344CB8AC3E}">
        <p14:creationId xmlns:p14="http://schemas.microsoft.com/office/powerpoint/2010/main" val="1864239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F4FA15-EDD4-4FCF-B5B5-5A4771C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D09C76-1A84-4ADB-88D1-9F27EB0A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0"/>
            <a:ext cx="8503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Phase 2 상세 ②  — Fusion · Pooling · InteractionTensor Classifier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82D2525-65B0-4507-A115-40CA8BC7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7A"/>
          </a:solidFill>
          <a:ln xmlns:a="http://schemas.openxmlformats.org/drawingml/2006/main" w="12700">
            <a:solidFill>
              <a:srgbClr val="2EAD7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C505B1-8315-449C-9A55-04C9AA64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04088"/>
            <a:ext cx="23774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E8822A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1E44A7-FD2B-4ACB-A7D5-0387580B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0408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8822A"/>
                </a:solidFill>
              </a:rPr>
              <a:t>(chem transformer 출력)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7B563FF-5A24-43F1-859C-CDC44BAE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25880"/>
            <a:ext cx="23774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7C4D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AC7C05B-021D-46B6-8025-A6DB2F9E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258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7C4DCC"/>
                </a:solidFill>
              </a:rPr>
              <a:t>(phys transformer 출력)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8274F43-AC6F-4DFB-9A93-69DCAB5B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93268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22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C4B2513-486F-4D7F-8ECE-31A7A2E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55448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4DC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6D37E8C-C10C-4C91-82EB-69CEC9E2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777240"/>
            <a:ext cx="17373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00A8CC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EE2597-4FB2-4971-95CC-728BDCC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804672"/>
            <a:ext cx="173736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Concat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[h_c ; h_p]</a:t>
            </a:r>
          </a:p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A347A6C-683C-4A1E-8434-54065EDB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344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8CC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043B24-2F71-482C-B69F-2161132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777240"/>
            <a:ext cx="182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2700">
            <a:solidFill>
              <a:srgbClr val="CBD5E0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61F47E2-99B0-44E3-9A73-618272C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804672"/>
            <a:ext cx="182880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A2B52"/>
                </a:solidFill>
              </a:rPr>
              <a:t>LayerNorm(2H)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A2B52"/>
                </a:solidFill>
              </a:rPr>
              <a:t>+ mask fill 0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A2B52"/>
                </a:solidFill>
              </a:rPr>
              <a:t>→ 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FD793DA-FCFE-4261-B34B-50BBB490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2344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8C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77661EF-3622-426C-BD9C-EAE5D773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777240"/>
            <a:ext cx="12801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7A"/>
          </a:solidFill>
          <a:ln xmlns:a="http://schemas.openxmlformats.org/drawingml/2006/main" w="12700">
            <a:solidFill>
              <a:srgbClr val="2EAD7A"/>
            </a:solidFill>
            <a:prstDash val="solid"/>
          </a:ln>
          <a:effectLst xmlns:a="http://schemas.openxmlformats.org/drawingml/2006/main">
            <a:outerShdw blurRad="889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4BECE9C-16F6-4235-92C2-75D96985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804672"/>
            <a:ext cx="128016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Masked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Mean Pool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→ 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E1E48B3-FA30-4C1A-88D0-2BF42EDF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1952"/>
            <a:ext cx="86868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BEA13CA-45B1-499C-9EBA-5C1EF5B3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1952"/>
            <a:ext cx="914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C"/>
          </a:solidFill>
          <a:ln xmlns:a="http://schemas.openxmlformats.org/drawingml/2006/main" w="12700">
            <a:solidFill>
              <a:srgbClr val="00A8C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FF3A71-DC91-45A5-A662-2BB8F3D4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20240"/>
            <a:ext cx="841248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A2B52"/>
                </a:solidFill>
                <a:latin typeface="Consolas"/>
                <a:ea typeface="Consolas"/>
                <a:cs typeface="Consolas"/>
              </a:rPr>
              <a:t>[Masked Mean Pool]   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A034713-EA08-4619-A82E-6DC2A5B2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0592"/>
            <a:ext cx="86868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52"/>
          </a:solidFill>
          <a:ln xmlns:a="http://schemas.openxmlformats.org/drawingml/2006/main" w="12700">
            <a:solidFill>
              <a:srgbClr val="1A2B5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51A18DE-F6A5-4C47-B626-4F3B5AD6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0592"/>
            <a:ext cx="8686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InteractionTensorHead  (Low-rank Symmetric Bilinear + Residual Linear)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97E857B-FC69-4396-BE21-A2D9C09A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7792"/>
            <a:ext cx="8686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5BB1A2F-A70D-4AEB-8861-7BAE45C5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290779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2B52"/>
                </a:solidFill>
              </a:rPr>
              <a:t>파라미터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447118A-2BAF-4193-82C6-DD6E4C9F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2907792"/>
            <a:ext cx="7178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  <a:latin typeface="Consolas"/>
                <a:ea typeface="Consolas"/>
                <a:cs typeface="Consolas"/>
              </a:rPr>
              <a:t>   (K=12 classes, r=rank=32)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6B9297E-DBE9-4896-AE3A-A410D628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246120"/>
            <a:ext cx="8686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6CB58AF-B488-409D-BDC0-59D10D5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324612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2B52"/>
                </a:solidFill>
              </a:rPr>
              <a:t>Low-rank 계산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CFDD47A-0E3C-4A56-95B1-FD068184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3246120"/>
            <a:ext cx="7178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CECB204-2779-4CE0-9EBB-E4BA4FA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84448"/>
            <a:ext cx="8686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9D5BE1B-068F-4BF4-B13E-9235C000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358444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2B52"/>
                </a:solidFill>
              </a:rPr>
              <a:t>Bilinear logit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124D830-FED5-4D71-A8EB-6C7AE5E0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3584448"/>
            <a:ext cx="7178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A2B52"/>
                </a:solidFill>
                <a:latin typeface="Consolas"/>
                <a:ea typeface="Consolas"/>
                <a:cs typeface="Consolas"/>
              </a:rPr>
              <a:t>        (symmetric 가정)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5CBF491-C4A3-4F1A-943A-0F728E89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922776"/>
            <a:ext cx="8686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D59287B-E719-4251-87DA-3876C160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3922776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2B52"/>
                </a:solidFill>
              </a:rPr>
              <a:t>Residual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A5D29E2-71F1-442F-BA0C-F344AD69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3922776"/>
            <a:ext cx="7178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00AD2A8C-6F04-4ABF-827B-0FBDF4F8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61104"/>
            <a:ext cx="8686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5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4BC87D1-F941-4FC5-9276-699A3ABC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61104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2B52"/>
                </a:solidFill>
              </a:rPr>
              <a:t>최종 logits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D6CC94D-0401-4936-B862-A5E601B7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4261104"/>
            <a:ext cx="7178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A44433D-B644-4EB6-8DA9-E2B58C99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599432"/>
            <a:ext cx="8686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5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7993AD3-116C-4208-AFD6-89CD962E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5994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2B52"/>
                </a:solidFill>
              </a:rPr>
              <a:t>Loss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B06FD99-C82E-4A18-BD76-51718500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4599432"/>
            <a:ext cx="7178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6311470-B210-4AE8-A964-A474F68E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937760"/>
            <a:ext cx="86868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0"/>
          </a:solidFill>
          <a:ln xmlns:a="http://schemas.openxmlformats.org/drawingml/2006/main" w="12700">
            <a:solidFill>
              <a:srgbClr val="CBD5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993821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2026-04-21T04:15:56.1160000Z</dcterms:created>
  <dcterms:modified xsi:type="dcterms:W3CDTF">2026-04-21T04:15:56.1160000Z</dcterms:modified>
</coreProperties>
</file>